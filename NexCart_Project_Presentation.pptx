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8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81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65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926080" cy="292608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00400"/>
            <a:ext cx="2286000" cy="22860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365760"/>
            <a:ext cx="1371600" cy="1371600"/>
          </a:xfrm>
          <a:prstGeom prst="ellipse">
            <a:avLst/>
          </a:prstGeom>
          <a:solidFill>
            <a:srgbClr val="0EA5E9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80689" y="155448"/>
            <a:ext cx="868866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4000" i="1" dirty="0">
              <a:solidFill>
                <a:srgbClr val="C9B8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algn="ctr"/>
            <a:endParaRPr lang="en-US" sz="4000" i="1" dirty="0">
              <a:solidFill>
                <a:srgbClr val="C9B8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algn="ctr"/>
            <a:r>
              <a:rPr sz="3800" b="1">
                <a:solidFill>
                  <a:srgbClr val="FFFFFF"/>
                </a:solidFill>
                <a:latin typeface="Cambria"/>
              </a:rPr>
              <a:t>AI POWERED SMART SOLUTIONS</a:t>
            </a:r>
          </a:p>
          <a:p>
            <a:pPr algn="ctr"/>
            <a:r>
              <a:rPr sz="2600" b="0">
                <a:solidFill>
                  <a:srgbClr val="34D399"/>
                </a:solidFill>
                <a:latin typeface="Cambria"/>
              </a:rPr>
              <a:t>Intelligent Supermarket Automation System</a:t>
            </a:r>
            <a:endParaRPr lang="en-US" sz="3000" dirty="0">
              <a:solidFill>
                <a:schemeClr val="bg1"/>
              </a:solidFill>
            </a:endParaRPr>
          </a:p>
          <a:p>
            <a:pPr algn="ctr"/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075370" y="1634957"/>
            <a:ext cx="274320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0725" y="1788785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34D399"/>
                </a:solidFill>
                <a:latin typeface="Calibri"/>
              </a:rPr>
              <a:t>Project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34713" y="22397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NexCart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77261" y="2593171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0">
                <a:solidFill>
                  <a:srgbClr val="94A3B8"/>
                </a:solidFill>
                <a:latin typeface="Calibri"/>
              </a:rPr>
              <a:t>MERN Stack • POS &amp; FEFO Inventory</a:t>
            </a:r>
            <a:endParaRPr lang="en-US" sz="11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843E0268-A056-CB95-4F9D-57F114865C03}"/>
              </a:ext>
            </a:extLst>
          </p:cNvPr>
          <p:cNvSpPr/>
          <p:nvPr/>
        </p:nvSpPr>
        <p:spPr>
          <a:xfrm>
            <a:off x="3704300" y="3839040"/>
            <a:ext cx="5393000" cy="1204723"/>
          </a:xfrm>
          <a:prstGeom prst="roundRect">
            <a:avLst>
              <a:gd name="adj" fmla="val 5854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28600" dist="76200" dir="5400000" algn="bl" rotWithShape="0">
              <a:srgbClr val="0B0C23">
                <a:alpha val="25000"/>
              </a:srgbClr>
            </a:outerShdw>
          </a:effectLst>
        </p:spPr>
        <p:txBody>
          <a:bodyPr/>
          <a:lstStyle/>
          <a:p>
            <a:r>
              <a:rPr sz="1300" b="1">
                <a:solidFill>
                  <a:srgbClr val="CBD5E1"/>
                </a:solidFill>
                <a:latin typeface="Calibri"/>
              </a:rPr>
              <a:t>PRESENTED BY: </a:t>
            </a:r>
            <a:r>
              <a:rPr sz="1300" b="1">
                <a:solidFill>
                  <a:srgbClr val="FFFFFF"/>
                </a:solidFill>
                <a:latin typeface="Calibri"/>
              </a:rPr>
              <a:t>GOURAV DUTTA</a:t>
            </a:r>
          </a:p>
          <a:p>
            <a:r>
              <a:rPr sz="1300" b="1">
                <a:solidFill>
                  <a:srgbClr val="CBD5E1"/>
                </a:solidFill>
                <a:latin typeface="Calibri"/>
              </a:rPr>
              <a:t>REGD.NO: </a:t>
            </a:r>
            <a:r>
              <a:rPr sz="1300" b="1">
                <a:solidFill>
                  <a:srgbClr val="FFFFFF"/>
                </a:solidFill>
                <a:latin typeface="Calibri"/>
              </a:rPr>
              <a:t>2301020762</a:t>
            </a:r>
          </a:p>
          <a:p>
            <a:r>
              <a:rPr sz="1300" b="1">
                <a:solidFill>
                  <a:srgbClr val="CBD5E1"/>
                </a:solidFill>
                <a:latin typeface="Calibri"/>
              </a:rPr>
              <a:t>BRANCH: </a:t>
            </a:r>
            <a:r>
              <a:rPr sz="1300" b="1">
                <a:solidFill>
                  <a:srgbClr val="FFFFFF"/>
                </a:solidFill>
                <a:latin typeface="Calibri"/>
              </a:rPr>
              <a:t>CSE(WEB TECHNOLOGY)</a:t>
            </a:r>
          </a:p>
          <a:p>
            <a:r>
              <a:rPr sz="1300" b="1">
                <a:solidFill>
                  <a:srgbClr val="CBD5E1"/>
                </a:solidFill>
                <a:latin typeface="Calibri"/>
              </a:rPr>
              <a:t>UNIVERSITY: </a:t>
            </a:r>
            <a:r>
              <a:rPr sz="1300" b="1">
                <a:solidFill>
                  <a:srgbClr val="FFFFFF"/>
                </a:solidFill>
                <a:latin typeface="Calibri"/>
              </a:rPr>
              <a:t>C.V.RAMAN GLOBAL UNIVERSITY,BHUBANESWAR</a:t>
            </a:r>
          </a:p>
          <a:p>
            <a:r>
              <a:rPr sz="1300" b="1">
                <a:solidFill>
                  <a:srgbClr val="CBD5E1"/>
                </a:solidFill>
                <a:latin typeface="Calibri"/>
              </a:rPr>
              <a:t>SUBMITTED TO: </a:t>
            </a:r>
            <a:r>
              <a:rPr sz="1300" b="1">
                <a:solidFill>
                  <a:srgbClr val="FFFFFF"/>
                </a:solidFill>
                <a:latin typeface="Calibri"/>
              </a:rPr>
              <a:t>INDUSTRIAL INTERNSHIP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366F1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27667" y="80467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</a:rPr>
              <a:t>NexCart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" y="1951871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b="0">
                <a:solidFill>
                  <a:srgbClr val="E2E8F0"/>
                </a:solidFill>
                <a:latin typeface="Calibri"/>
              </a:rPr>
              <a:t>Intelligent Supermarket Automation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953698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F172A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9260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React 18 / Vite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74520" y="292608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F172A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29260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Node / Express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F172A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4290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MongoDB 7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74520" y="34290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F172A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874520" y="34290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Tailwind CSS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F172A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9319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Socket.io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74520" y="393192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F172A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874520" y="39319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PDFKit / JWT</a:t>
            </a:r>
            <a:endParaRPr lang="en-US" sz="950" dirty="0"/>
          </a:p>
        </p:txBody>
      </p:sp>
      <p:sp>
        <p:nvSpPr>
          <p:cNvPr id="20" name="TextBox 19"/>
          <p:cNvSpPr txBox="1"/>
          <p:nvPr/>
        </p:nvSpPr>
        <p:spPr>
          <a:xfrm>
            <a:off x="3794760" y="36576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818CF8"/>
                </a:solidFill>
                <a:latin typeface="Calibri"/>
              </a:rPr>
              <a:t>SYSTEM CAPABILITIES &amp; ARCHITECTURE OVERVIEW</a:t>
            </a:r>
          </a:p>
          <a:p>
            <a:r>
              <a:rPr sz="1800" b="1">
                <a:solidFill>
                  <a:srgbClr val="FFFFFF"/>
                </a:solidFill>
                <a:latin typeface="Calibri"/>
              </a:rPr>
              <a:t>Engineered for Enterprise Retail Performance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1234440"/>
            <a:ext cx="4983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1325880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Calibri"/>
              </a:rPr>
              <a:t>⚡ Dual-Engine POS &amp; Self-Checkout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2E8F0"/>
                </a:solidFill>
                <a:latin typeface="Calibri"/>
              </a:rPr>
              <a:t>Express cashier POS terminal with cart hold &amp; recall, combined with direct customer self-checkout via camera and barcode scanner.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60" y="2423160"/>
            <a:ext cx="4983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2514600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18CF8"/>
                </a:solidFill>
                <a:latin typeface="Calibri"/>
              </a:rPr>
              <a:t>📦 FEFO Automated Depletion &amp; Expiry Radar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2E8F0"/>
                </a:solidFill>
                <a:latin typeface="Calibri"/>
              </a:rPr>
              <a:t>Nearest-expiry-first inventory depletion preventing spoiled stock sales, paired with a 30-day proactive expiry radar and stock alerts.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94760" y="3611880"/>
            <a:ext cx="4983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3703320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Calibri"/>
              </a:rPr>
              <a:t>🛡️ ACID Multi-Doc Transactions &amp; GST Compliance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2E8F0"/>
                </a:solidFill>
                <a:latin typeface="Calibri"/>
              </a:rPr>
              <a:t>MongoDB replica set transactions preventing overselling races, with automated CGST/SGST calculation and authenticated PDF receipts in INR (₹).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4E2C82-1A47-F8DF-8682-8B4316E6A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21864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82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6366F1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01  •  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</a:rPr>
              <a:t>What is NexCart?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818CF8"/>
                </a:solidFill>
                <a:latin typeface="Calibri"/>
              </a:rPr>
              <a:t>What is it?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0">
                <a:solidFill>
                  <a:srgbClr val="E2E8F0"/>
                </a:solidFill>
                <a:latin typeface="Calibri"/>
              </a:rPr>
              <a:t>An enterprise-grade, full-stack intelligent supermarket automation platform unifying express self-checkout, cashier POS, automated FEFO inventory depletion, and secure audit trails.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37160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818CF8"/>
                </a:solidFill>
                <a:latin typeface="Calibri"/>
              </a:rPr>
              <a:t>How does it work?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0">
                <a:solidFill>
                  <a:srgbClr val="E2E8F0"/>
                </a:solidFill>
                <a:latin typeface="Calibri"/>
              </a:rPr>
              <a:t>Customers and cashiers scan barcodes or SKUs; transactions execute with MongoDB replica set ACID guarantees; stock decrements strictly by Nearest Expiry First (FEFO); invoices generate with GST breakdowns.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546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818CF8"/>
                </a:solidFill>
                <a:latin typeface="Calibri"/>
              </a:rPr>
              <a:t>Why Automation?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0">
                <a:solidFill>
                  <a:srgbClr val="E2E8F0"/>
                </a:solidFill>
                <a:latin typeface="Calibri"/>
              </a:rPr>
              <a:t>Eliminates manual queue bottlenecks, prevents expired inventory sales, stops revenue shrinkage from billing oversights, and provides real-time multi-tier supermarket governance.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01752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31546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818CF8"/>
                </a:solidFill>
                <a:latin typeface="Calibri"/>
              </a:rPr>
              <a:t>Who benefits?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0">
                <a:solidFill>
                  <a:srgbClr val="E2E8F0"/>
                </a:solidFill>
                <a:latin typeface="Calibri"/>
              </a:rPr>
              <a:t>Shoppers (instant self-checkout), Cashiers (streamlined POS terminal with hold/recall), Inventory Managers (batch receiving &amp; expiry alerts), and Admins (live revenue analytics &amp; audit trails).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6366F1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01  • 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</a:rPr>
              <a:t>Current Pain Points in Supermarkets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46304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4264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50" b="0">
                <a:solidFill>
                  <a:srgbClr val="E2E8F0"/>
                </a:solidFill>
                <a:latin typeface="Calibri"/>
              </a:rPr>
              <a:t>Long manual checkout queues causing 30–40% customer cart abandonment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3232" y="205740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02082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50" b="0">
                <a:solidFill>
                  <a:srgbClr val="E2E8F0"/>
                </a:solidFill>
                <a:latin typeface="Calibri"/>
              </a:rPr>
              <a:t>Substantial revenue losses from spoiled goods due to lack of FEFO batch tracking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3232" y="265176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1518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50" b="0">
                <a:solidFill>
                  <a:srgbClr val="E2E8F0"/>
                </a:solidFill>
                <a:latin typeface="Calibri"/>
              </a:rPr>
              <a:t>Phantom inventory &amp; stock discrepancies between shelves, warehouses, and POS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" y="324612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2095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50" b="0">
                <a:solidFill>
                  <a:srgbClr val="E2E8F0"/>
                </a:solidFill>
                <a:latin typeface="Calibri"/>
              </a:rPr>
              <a:t>Vulnerability to race conditions and inventory overselling during rush hours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3232" y="384048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8039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50" b="0">
                <a:solidFill>
                  <a:srgbClr val="E2E8F0"/>
                </a:solidFill>
                <a:latin typeface="Calibri"/>
              </a:rPr>
              <a:t>Fragmented compliance with Indian retail tax standards (GST &amp; HSN invoicing)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123444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06440" y="13075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3000" b="1">
                <a:solidFill>
                  <a:srgbClr val="818CF8"/>
                </a:solidFill>
                <a:latin typeface="Calibri"/>
              </a:rPr>
              <a:t>40%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806440" y="1828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0">
                <a:solidFill>
                  <a:srgbClr val="94A3B8"/>
                </a:solidFill>
                <a:latin typeface="Calibri"/>
              </a:rPr>
              <a:t>Peak Hour Queue Delays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06440" y="24231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6440" y="24963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3000" b="1">
                <a:solidFill>
                  <a:srgbClr val="F59E0B"/>
                </a:solidFill>
                <a:latin typeface="Calibri"/>
              </a:rPr>
              <a:t>12–15%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806440" y="3017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0">
                <a:solidFill>
                  <a:srgbClr val="94A3B8"/>
                </a:solidFill>
                <a:latin typeface="Calibri"/>
              </a:rPr>
              <a:t>FMCG Margins Lost to Expiry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06440" y="361188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06440" y="36850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3000" b="1">
                <a:solidFill>
                  <a:srgbClr val="38BDF8"/>
                </a:solidFill>
                <a:latin typeface="Calibri"/>
              </a:rPr>
              <a:t>0%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806440" y="4206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0">
                <a:solidFill>
                  <a:srgbClr val="94A3B8"/>
                </a:solidFill>
                <a:latin typeface="Calibri"/>
              </a:rPr>
              <a:t>Real-Time Stock Discrepancy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6366F1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01  •  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</a:rPr>
              <a:t>What This Project Aims to Achieve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581912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39903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Dual-Engine POS &amp; Self-Checkout: Provide instant barcode scanning, cart management, and rapid bill generation.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28032" y="123444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92624" y="1581912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992624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13832" y="139903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FEFO Batch Inventory Management: Automatically deplete batches nearing expiration first to minimize grocery shrinkage.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2816352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63347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ACID Transactional Consistency: Guarantee zero overselling and atomic rollback across inventory, coupons, and orders.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8032" y="246888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92624" y="2816352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4992624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13832" y="263347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Predictive 30-Day Expiry Radar: Automatically categorize goods into Safe, Warning, and Critical batches.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4050792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386791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Indian Market GST &amp; Invoicing: Auto-calculate CGST, SGST, IGST, and deliver authenticated thermal receipts &amp; downloadable PDFs.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28032" y="370332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92624" y="4050792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992624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13832" y="386791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Enterprise RBAC &amp; Security: Enforce strict role-based access for Admin, Inventory Manager, Cashier, and Customer.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6366F1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01  •  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vs. Proposed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" cy="36576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Existing Supermarket System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Proposed NexCart Platform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2E8F0"/>
                          </a:solidFill>
                          <a:latin typeface="Calibri"/>
                        </a:rPr>
                        <a:t>Checkout Flow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2E8F0"/>
                          </a:solidFill>
                          <a:latin typeface="Calibri"/>
                        </a:rPr>
                        <a:t>Manual single-terminal cashier queue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4D399"/>
                          </a:solidFill>
                          <a:latin typeface="Calibri"/>
                        </a:rPr>
                        <a:t>Dual Mode: Cashier POS + Customer Self-Checkout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2E8F0"/>
                          </a:solidFill>
                          <a:latin typeface="Calibri"/>
                        </a:rPr>
                        <a:t>Inventory Depletion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2E8F0"/>
                          </a:solidFill>
                          <a:latin typeface="Calibri"/>
                        </a:rPr>
                        <a:t>LIFO / FIFO or unmanaged stock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4D399"/>
                          </a:solidFill>
                          <a:latin typeface="Calibri"/>
                        </a:rPr>
                        <a:t>Strict FEFO (First-Expired, First-Out) Depletion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2E8F0"/>
                          </a:solidFill>
                          <a:latin typeface="Calibri"/>
                        </a:rPr>
                        <a:t>Stock Concurrency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2E8F0"/>
                          </a:solidFill>
                          <a:latin typeface="Calibri"/>
                        </a:rPr>
                        <a:t>Vulnerable to race overselling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4D399"/>
                          </a:solidFill>
                          <a:latin typeface="Calibri"/>
                        </a:rPr>
                        <a:t>MongoDB Replica Set ACID Multi-Doc Transactions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2E8F0"/>
                          </a:solidFill>
                          <a:latin typeface="Calibri"/>
                        </a:rPr>
                        <a:t>Expiry Monitoring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2E8F0"/>
                          </a:solidFill>
                          <a:latin typeface="Calibri"/>
                        </a:rPr>
                        <a:t>Manual periodic physical audits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4D399"/>
                          </a:solidFill>
                          <a:latin typeface="Calibri"/>
                        </a:rPr>
                        <a:t>Automated 30-Day Expiry Radar &amp; Critical Alerts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2E8F0"/>
                          </a:solidFill>
                          <a:latin typeface="Calibri"/>
                        </a:rPr>
                        <a:t>Tax &amp; Invoicing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2E8F0"/>
                          </a:solidFill>
                          <a:latin typeface="Calibri"/>
                        </a:rPr>
                        <a:t>Generic paper slips / manual math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4D399"/>
                          </a:solidFill>
                          <a:latin typeface="Calibri"/>
                        </a:rPr>
                        <a:t>Auto GST (CGST/SGST/IGST) + Authenticated PDF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2E8F0"/>
                          </a:solidFill>
                          <a:latin typeface="Calibri"/>
                        </a:rPr>
                        <a:t>Price &amp; Currency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2E8F0"/>
                          </a:solidFill>
                          <a:latin typeface="Calibri"/>
                        </a:rPr>
                        <a:t>Generic currency / manual POS entry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4D399"/>
                          </a:solidFill>
                          <a:latin typeface="Calibri"/>
                        </a:rPr>
                        <a:t>INR (₹) with Indian FMCG HSN &amp; GST compliance</a:t>
                      </a: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6366F1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01  • 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33415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818CF8"/>
                </a:solidFill>
                <a:latin typeface="Calibri"/>
              </a:rPr>
              <a:t>PRESENTATION LAYER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Web POS Terminal (Desktop)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441448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414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Mobile Self-Checkout (PWA)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6060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18CF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83280" y="123444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38BDF8"/>
                </a:solidFill>
                <a:latin typeface="Calibri"/>
              </a:rPr>
              <a:t>APPLICATION LAYER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178308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17830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Express.js API Gateway &amp; RBAC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2441448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24414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FEFO Depletion &amp; Stock Engine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3099816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30998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ACID Checkout &amp; Order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6060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18CF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09360" y="123444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A3A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34D399"/>
                </a:solidFill>
                <a:latin typeface="Calibri"/>
              </a:rPr>
              <a:t>PERSISTENCE &amp; OUTPUT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178308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17830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Live Admin &amp; POS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2441448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4414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GST Thermal &amp; PDF Invoices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3099816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0998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Real-Time Audit &amp; Socket Alerts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34D399"/>
                </a:solidFill>
                <a:latin typeface="Calibri"/>
              </a:rPr>
              <a:t>MongoDB 7 Multi-Document ACID Transactions • Replica Set Persistence</a:t>
            </a:r>
            <a:endParaRPr lang="en-US" sz="1050" dirty="0"/>
          </a:p>
        </p:txBody>
      </p:sp>
      <p:sp>
        <p:nvSpPr>
          <p:cNvPr id="31" name="Rounded Rectangle 30"/>
          <p:cNvSpPr/>
          <p:nvPr/>
        </p:nvSpPr>
        <p:spPr>
          <a:xfrm>
            <a:off x="640080" y="3099816"/>
            <a:ext cx="237744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099816"/>
            <a:ext cx="2377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Barcode &amp; SKU Scanner Feed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6366F1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01  •  TECHNOLOGIES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50" b="1">
                <a:solidFill>
                  <a:srgbClr val="818CF8"/>
                </a:solidFill>
                <a:latin typeface="Calibri"/>
              </a:rPr>
              <a:t>React 18 + Vite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High-performance SPA with Tailwind CSS, Lucide icons, responsive layout for desktop POS and mobile self-checkout.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50" b="1">
                <a:solidFill>
                  <a:srgbClr val="818CF8"/>
                </a:solidFill>
                <a:latin typeface="Calibri"/>
              </a:rPr>
              <a:t>Node.js + Express.js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RESTful API backend with modular MVC architecture, JWT authentication, rate limiting, and RBAC authorization middleware.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50" b="1">
                <a:solidFill>
                  <a:srgbClr val="818CF8"/>
                </a:solidFill>
                <a:latin typeface="Calibri"/>
              </a:rPr>
              <a:t>MongoDB 7 + Mongoose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1783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Document database utilizing multi-document ACID transactions with replica-set consistency and compound indexes for high throughput.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50" b="1">
                <a:solidFill>
                  <a:srgbClr val="818CF8"/>
                </a:solidFill>
                <a:latin typeface="Calibri"/>
              </a:rPr>
              <a:t>Tailwind CSS 3.4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3474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Modern 2026 SaaS design system with emerald brand identity, dark/light theme tokens, and accessible responsive components.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2971800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0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50" b="1">
                <a:solidFill>
                  <a:srgbClr val="818CF8"/>
                </a:solidFill>
                <a:latin typeface="Calibri"/>
              </a:rPr>
              <a:t>Socket.io &amp; Recharts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74720" y="3474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Real-time bidirectional event pipeline for live inventory updates alongside interactive KPI charts, revenue analytics, and stock heatmaps.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2971800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50" b="1">
                <a:solidFill>
                  <a:srgbClr val="818CF8"/>
                </a:solidFill>
                <a:latin typeface="Calibri"/>
              </a:rPr>
              <a:t>PDFKit &amp; Security Suite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55080" y="3474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Server-side cryptographic JWT tokens, bcrypt password hashing, and dynamic vector PDF invoice rendering with GST tax breakdowns.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6366F1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01  • 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Key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075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3000" b="1">
                <a:solidFill>
                  <a:srgbClr val="818CF8"/>
                </a:solidFill>
                <a:latin typeface="Calibri"/>
              </a:rPr>
              <a:t>83 Tests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0">
                <a:solidFill>
                  <a:srgbClr val="94A3B8"/>
                </a:solidFill>
                <a:latin typeface="Calibri"/>
              </a:rPr>
              <a:t>100% Passed Test Suite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23444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3075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3000" b="1">
                <a:solidFill>
                  <a:srgbClr val="34D399"/>
                </a:solidFill>
                <a:latin typeface="Calibri"/>
              </a:rPr>
              <a:t>&lt; 1.2 sec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154680" y="1828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0">
                <a:solidFill>
                  <a:srgbClr val="94A3B8"/>
                </a:solidFill>
                <a:latin typeface="Calibri"/>
              </a:rPr>
              <a:t>Avg. Checkout Speed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0" y="123444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13075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3000" b="1">
                <a:solidFill>
                  <a:srgbClr val="38BDF8"/>
                </a:solidFill>
                <a:latin typeface="Calibri"/>
              </a:rPr>
              <a:t>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852160" y="1828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0">
                <a:solidFill>
                  <a:srgbClr val="94A3B8"/>
                </a:solidFill>
                <a:latin typeface="Calibri"/>
              </a:rPr>
              <a:t>Overselling Concurrency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321040" cy="24688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56032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b="1">
                <a:solidFill>
                  <a:srgbClr val="818CF8"/>
                </a:solidFill>
                <a:latin typeface="Calibri"/>
              </a:rPr>
              <a:t>Implementation &amp; Verification Steps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944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0">
                <a:solidFill>
                  <a:srgbClr val="E2E8F0"/>
                </a:solidFill>
                <a:latin typeface="Calibri"/>
              </a:rPr>
              <a:t>1. System Architecture &amp; Schema Modeling (Users, Products, Batches)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383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0">
                <a:solidFill>
                  <a:srgbClr val="E2E8F0"/>
                </a:solidFill>
                <a:latin typeface="Calibri"/>
              </a:rPr>
              <a:t>2. FEFO Depletion Engine with Batch Expiry Sorting &amp; Allocation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822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0">
                <a:solidFill>
                  <a:srgbClr val="E2E8F0"/>
                </a:solidFill>
                <a:latin typeface="Calibri"/>
              </a:rPr>
              <a:t>3. MongoDB Replica-Set ACID Transactions with Rollback Logic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2611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0">
                <a:solidFill>
                  <a:srgbClr val="E2E8F0"/>
                </a:solidFill>
                <a:latin typeface="Calibri"/>
              </a:rPr>
              <a:t>4. Cashier POS Terminal with Cart Hold/Recall &amp; Barcode 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944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0">
                <a:solidFill>
                  <a:srgbClr val="E2E8F0"/>
                </a:solidFill>
                <a:latin typeface="Calibri"/>
              </a:rPr>
              <a:t>5. Indian Retail Localization: INR (₹) Pricing, HSN &amp; GST Engine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383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0">
                <a:solidFill>
                  <a:srgbClr val="E2E8F0"/>
                </a:solidFill>
                <a:latin typeface="Calibri"/>
              </a:rPr>
              <a:t>6. Multi-Tier Role Governance (Admin, Manager, Cashier, Customer)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822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0">
                <a:solidFill>
                  <a:srgbClr val="E2E8F0"/>
                </a:solidFill>
                <a:latin typeface="Calibri"/>
              </a:rPr>
              <a:t>7. Comprehensive Test Automation (83 Unit, Integration &amp; Concurrency Tests)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6366F1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01  • 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</a:rPr>
              <a:t>Conclusion — NexCart Supermarket Automation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8321040" cy="621792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35608"/>
            <a:ext cx="219456" cy="21945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2801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50" b="0">
                <a:solidFill>
                  <a:srgbClr val="E2E8F0"/>
                </a:solidFill>
                <a:latin typeface="Calibri"/>
              </a:rPr>
              <a:t>Successfully engineered and verified a full-stack automated supermarket system solving traditional checkout bottlenecks and inventory shrinkage.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8321040" cy="621792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85416"/>
            <a:ext cx="219456" cy="21945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2996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50" b="0">
                <a:solidFill>
                  <a:srgbClr val="E2E8F0"/>
                </a:solidFill>
                <a:latin typeface="Calibri"/>
              </a:rPr>
              <a:t>Enforced automated FEFO batch depletion and 30-day expiry radar, significantly reducing perishable food waste in retail environments.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34056"/>
            <a:ext cx="8321040" cy="621792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935224"/>
            <a:ext cx="219456" cy="21945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779776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50" b="0">
                <a:solidFill>
                  <a:srgbClr val="E2E8F0"/>
                </a:solidFill>
                <a:latin typeface="Calibri"/>
              </a:rPr>
              <a:t>Eliminated inventory race conditions and double-spending through robust MongoDB replica-set ACID transactions and compensation fallbacks.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8321040" cy="621792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85032"/>
            <a:ext cx="219456" cy="21945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529584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50" b="0">
                <a:solidFill>
                  <a:srgbClr val="E2E8F0"/>
                </a:solidFill>
                <a:latin typeface="Calibri"/>
              </a:rPr>
              <a:t>Tailored end-to-end for the Indian retail ecosystem with seamless INR (₹) pricing, GST tax computation, and authenticated PDF billing.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233672"/>
            <a:ext cx="8321040" cy="621792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434840"/>
            <a:ext cx="219456" cy="21945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27939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50" b="0">
                <a:solidFill>
                  <a:srgbClr val="E2E8F0"/>
                </a:solidFill>
                <a:latin typeface="Calibri"/>
              </a:rPr>
              <a:t>Validated with 83 automated tests achieving 100% pass rate, demonstrating enterprise-grade stability, security, and scalability.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3044952" cy="3429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4800600"/>
            <a:ext cx="3054096" cy="3429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4800600"/>
            <a:ext cx="3044952" cy="3429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6000" b="1">
                <a:solidFill>
                  <a:srgbClr val="FFFFFF"/>
                </a:solidFill>
                <a:latin typeface="Cambria"/>
              </a:rPr>
              <a:t>Thank You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500" b="0">
                <a:solidFill>
                  <a:srgbClr val="AAAAAA"/>
                </a:solidFill>
                <a:latin typeface="Arial"/>
              </a:rPr>
              <a:t>Department of Computer Science &amp; Engineering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300" b="1">
                <a:solidFill>
                  <a:srgbClr val="CBD5E1"/>
                </a:solidFill>
                <a:latin typeface="Arial"/>
              </a:rPr>
              <a:t>C.V. Raman Global University, Bhubaneswar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/>
            <a:r>
              <a:rPr sz="1100" b="0">
                <a:solidFill>
                  <a:srgbClr val="888888"/>
                </a:solidFill>
                <a:latin typeface="Arial"/>
              </a:rPr>
              <a:t>INDUSTRIAL INTERNSHIP PROJECT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656</Words>
  <Application>Microsoft Office PowerPoint</Application>
  <PresentationFormat>On-screen Show (16:9)</PresentationFormat>
  <Paragraphs>147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Projects — Combined Presentation 2024-25</dc:title>
  <dc:subject>PptxGenJS Presentation</dc:subject>
  <dc:creator>PptxGenJS</dc:creator>
  <cp:lastModifiedBy>SUBHALAXMI AMANTA</cp:lastModifiedBy>
  <cp:revision>5</cp:revision>
  <dcterms:created xsi:type="dcterms:W3CDTF">2026-06-25T11:58:51Z</dcterms:created>
  <dcterms:modified xsi:type="dcterms:W3CDTF">2026-10-10T09:51:16Z</dcterms:modified>
</cp:coreProperties>
</file>